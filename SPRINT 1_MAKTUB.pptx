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7" r:id="rId5"/>
  </p:sldMasterIdLst>
  <p:notesMasterIdLst>
    <p:notesMasterId r:id="rId23"/>
  </p:notesMasterIdLst>
  <p:sldIdLst>
    <p:sldId id="256" r:id="rId6"/>
    <p:sldId id="339" r:id="rId7"/>
    <p:sldId id="342" r:id="rId8"/>
    <p:sldId id="341" r:id="rId9"/>
    <p:sldId id="340" r:id="rId10"/>
    <p:sldId id="345" r:id="rId11"/>
    <p:sldId id="344" r:id="rId12"/>
    <p:sldId id="343" r:id="rId13"/>
    <p:sldId id="259" r:id="rId14"/>
    <p:sldId id="260" r:id="rId15"/>
    <p:sldId id="258" r:id="rId16"/>
    <p:sldId id="338" r:id="rId17"/>
    <p:sldId id="257" r:id="rId18"/>
    <p:sldId id="262" r:id="rId19"/>
    <p:sldId id="263" r:id="rId20"/>
    <p:sldId id="336" r:id="rId21"/>
    <p:sldId id="337" r:id="rId2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7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5662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93166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AAF045-FEF6-43EA-9CDC-C84FC3F85E9C}" type="datetimeFigureOut">
              <a:rPr lang="en-US"/>
              <a:t>10/19/2025</a:t>
            </a:fld>
            <a:endParaRPr lang="en-US"/>
          </a:p>
        </p:txBody>
      </p:sp>
      <p:sp>
        <p:nvSpPr>
          <p:cNvPr id="711733211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11729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729699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229984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52F1279-6CE4-4169-83D3-4483097B6907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CD889A-1B79-6F79-2630-2C7FA779C0D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F09E-5AB4-C5A7-1DD9-A1F4F62ACB0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65A0D-852F-F86D-C997-D7A44D829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B9574-5311-2DE9-ED92-D3D633C050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CCD60-3D6C-F4E4-D8C9-4BBDAF1D5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8657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3810D-3941-99DF-185C-EC7A3DC86D0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F2328-3D61-4B2D-709D-BE04351E7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29A62-2C19-B88B-E75E-B786DEF66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586B0-5318-DB11-92FF-31D7554DC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4940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E4D0-732C-9C34-ECAD-028E50F663E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19D39-69AC-0FDE-7251-0F6044D35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631F1-D333-1194-8B69-96949D5760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229E7-2424-4478-4FD9-F724BABB6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5561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C458-4801-72A6-5F37-AB4B088B9CA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93218-9AB9-BF10-E4C0-210DD1F00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05A0F-8ADF-EB1A-AD00-0D0B60384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29DCA-5468-3841-84F9-E129271EB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5397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5A0C-ACAF-694F-1250-302525B3DF2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CA23D-EF7F-44D0-D001-0F171EAF6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22190-681F-EACF-6D6F-6580F64C60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C2B6A-1287-843B-3000-BCD8BBBFE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3890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13BD-183B-7783-1A1A-D0989328D78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883BE-917E-4250-A781-5E752E9CC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ACD70-3A83-F5D2-0724-1DF25AC799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15111-B381-2002-2125-0318FAEC2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6716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16023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8916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612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93B70D-7395-924D-756F-BC9A48B3041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182514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9614839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205734349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D1B870-F229-52FC-C776-89559B3541BF}" type="slidenum">
              <a:rPr lang="pt-BR"/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2343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8631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273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6280D-771F-792F-D75B-C0F591F8027E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AA13-B46A-D5CE-FDFC-CC728156E86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234321" name="Slide Image Placeholder 1">
            <a:extLst>
              <a:ext uri="{FF2B5EF4-FFF2-40B4-BE49-F238E27FC236}">
                <a16:creationId xmlns:a16="http://schemas.microsoft.com/office/drawing/2014/main" id="{6892EA50-5FDE-BB70-67EB-7560D9A1B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86317189" name="Notes Placeholder 2">
            <a:extLst>
              <a:ext uri="{FF2B5EF4-FFF2-40B4-BE49-F238E27FC236}">
                <a16:creationId xmlns:a16="http://schemas.microsoft.com/office/drawing/2014/main" id="{29462EAC-7149-A0FF-1FC4-E8AF5FC228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273233" name="Slide Number Placeholder 3">
            <a:extLst>
              <a:ext uri="{FF2B5EF4-FFF2-40B4-BE49-F238E27FC236}">
                <a16:creationId xmlns:a16="http://schemas.microsoft.com/office/drawing/2014/main" id="{C0CCE44C-251C-A307-01FC-34B6A599D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6280D-771F-792F-D75B-C0F591F8027E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496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6847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78371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911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BFAE04-3827-FBFD-0146-817BB6848C5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2287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8747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340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CE941-D072-E852-4886-30D225B90156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389342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Agenda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Taam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194184" name="Rectangle 1"/>
          <p:cNvSpPr/>
          <p:nvPr userDrawn="1"/>
        </p:nvSpPr>
        <p:spPr bwMode="auto">
          <a:xfrm>
            <a:off x="0" y="0"/>
            <a:ext cx="43218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7455941" name="Picture Placeholder 2"/>
          <p:cNvSpPr>
            <a:spLocks noGrp="1"/>
          </p:cNvSpPr>
          <p:nvPr>
            <p:ph type="pic" idx="12" hasCustomPrompt="1"/>
          </p:nvPr>
        </p:nvSpPr>
        <p:spPr bwMode="auto">
          <a:xfrm>
            <a:off x="3197030" y="414070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  <p:sp>
        <p:nvSpPr>
          <p:cNvPr id="1953744221" name="Picture Placeholder 2"/>
          <p:cNvSpPr>
            <a:spLocks noGrp="1"/>
          </p:cNvSpPr>
          <p:nvPr>
            <p:ph type="pic" idx="13" hasCustomPrompt="1"/>
          </p:nvPr>
        </p:nvSpPr>
        <p:spPr bwMode="auto">
          <a:xfrm>
            <a:off x="3197030" y="2548389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  <p:sp>
        <p:nvSpPr>
          <p:cNvPr id="1612649537" name="Picture Placeholder 2"/>
          <p:cNvSpPr>
            <a:spLocks noGrp="1"/>
          </p:cNvSpPr>
          <p:nvPr>
            <p:ph type="pic" idx="14" hasCustomPrompt="1"/>
          </p:nvPr>
        </p:nvSpPr>
        <p:spPr bwMode="auto">
          <a:xfrm>
            <a:off x="3197030" y="4682707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365173" name="Freeform: Shape 7"/>
          <p:cNvSpPr>
            <a:spLocks noGrp="1"/>
          </p:cNvSpPr>
          <p:nvPr>
            <p:ph type="pic" idx="12" hasCustomPrompt="1"/>
          </p:nvPr>
        </p:nvSpPr>
        <p:spPr bwMode="auto">
          <a:xfrm>
            <a:off x="4535992" y="0"/>
            <a:ext cx="7656008" cy="6871547"/>
          </a:xfrm>
          <a:custGeom>
            <a:avLst/>
            <a:gdLst>
              <a:gd name="connsiteX0" fmla="*/ 7099553 w 7656008"/>
              <a:gd name="connsiteY0" fmla="*/ 1 h 6871547"/>
              <a:gd name="connsiteX1" fmla="*/ 7656008 w 7656008"/>
              <a:gd name="connsiteY1" fmla="*/ 1 h 6871547"/>
              <a:gd name="connsiteX2" fmla="*/ 7656008 w 7656008"/>
              <a:gd name="connsiteY2" fmla="*/ 6858001 h 6871547"/>
              <a:gd name="connsiteX3" fmla="*/ 7090045 w 7656008"/>
              <a:gd name="connsiteY3" fmla="*/ 6858001 h 6871547"/>
              <a:gd name="connsiteX4" fmla="*/ 3665798 w 7656008"/>
              <a:gd name="connsiteY4" fmla="*/ 3433756 h 6871547"/>
              <a:gd name="connsiteX5" fmla="*/ 3440540 w 7656008"/>
              <a:gd name="connsiteY5" fmla="*/ 0 h 6871547"/>
              <a:gd name="connsiteX6" fmla="*/ 6881081 w 7656008"/>
              <a:gd name="connsiteY6" fmla="*/ 0 h 6871547"/>
              <a:gd name="connsiteX7" fmla="*/ 3440540 w 7656008"/>
              <a:gd name="connsiteY7" fmla="*/ 3440541 h 6871547"/>
              <a:gd name="connsiteX8" fmla="*/ 6871547 w 7656008"/>
              <a:gd name="connsiteY8" fmla="*/ 6871547 h 6871547"/>
              <a:gd name="connsiteX9" fmla="*/ 3431006 w 7656008"/>
              <a:gd name="connsiteY9" fmla="*/ 6871547 h 6871547"/>
              <a:gd name="connsiteX10" fmla="*/ 0 w 7656008"/>
              <a:gd name="connsiteY10" fmla="*/ 3440541 h 6871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56008" h="6871547" extrusionOk="0">
                <a:moveTo>
                  <a:pt x="7099553" y="1"/>
                </a:moveTo>
                <a:lnTo>
                  <a:pt x="7656008" y="1"/>
                </a:lnTo>
                <a:lnTo>
                  <a:pt x="7656008" y="6858001"/>
                </a:lnTo>
                <a:lnTo>
                  <a:pt x="7090045" y="6858001"/>
                </a:lnTo>
                <a:lnTo>
                  <a:pt x="3665798" y="3433756"/>
                </a:lnTo>
                <a:close/>
                <a:moveTo>
                  <a:pt x="3440540" y="0"/>
                </a:moveTo>
                <a:lnTo>
                  <a:pt x="6881081" y="0"/>
                </a:lnTo>
                <a:lnTo>
                  <a:pt x="3440540" y="3440541"/>
                </a:lnTo>
                <a:lnTo>
                  <a:pt x="6871547" y="6871547"/>
                </a:lnTo>
                <a:lnTo>
                  <a:pt x="3431006" y="6871547"/>
                </a:lnTo>
                <a:lnTo>
                  <a:pt x="0" y="34405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08535984" name="Group 1"/>
          <p:cNvGrpSpPr/>
          <p:nvPr userDrawn="1"/>
        </p:nvGrpSpPr>
        <p:grpSpPr bwMode="auto">
          <a:xfrm>
            <a:off x="4196676" y="1650757"/>
            <a:ext cx="3798649" cy="2992952"/>
            <a:chOff x="2862987" y="1731312"/>
            <a:chExt cx="3418025" cy="2693057"/>
          </a:xfrm>
        </p:grpSpPr>
        <p:grpSp>
          <p:nvGrpSpPr>
            <p:cNvPr id="3" name="Group 2"/>
            <p:cNvGrpSpPr/>
            <p:nvPr/>
          </p:nvGrpSpPr>
          <p:grpSpPr bwMode="auto">
            <a:xfrm>
              <a:off x="4863456" y="1894632"/>
              <a:ext cx="1417556" cy="2448506"/>
              <a:chOff x="4863456" y="1894632"/>
              <a:chExt cx="1417556" cy="2448506"/>
            </a:xfrm>
          </p:grpSpPr>
          <p:sp>
            <p:nvSpPr>
              <p:cNvPr id="18" name="Rounded Rectangle 21"/>
              <p:cNvSpPr/>
              <p:nvPr userDrawn="1"/>
            </p:nvSpPr>
            <p:spPr bwMode="auto">
              <a:xfrm>
                <a:off x="4863456" y="1894632"/>
                <a:ext cx="1417556" cy="244850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19" name="Rectangle 18"/>
              <p:cNvSpPr/>
              <p:nvPr userDrawn="1"/>
            </p:nvSpPr>
            <p:spPr bwMode="auto">
              <a:xfrm>
                <a:off x="5479028" y="2000031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20" name="Group 19"/>
              <p:cNvGrpSpPr/>
              <p:nvPr userDrawn="1"/>
            </p:nvGrpSpPr>
            <p:grpSpPr bwMode="auto">
              <a:xfrm>
                <a:off x="5503568" y="4128564"/>
                <a:ext cx="137331" cy="151064"/>
                <a:chOff x="2453209" y="5151638"/>
                <a:chExt cx="191820" cy="211002"/>
              </a:xfrm>
            </p:grpSpPr>
            <p:sp>
              <p:nvSpPr>
                <p:cNvPr id="22" name="Oval 21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23" name="Rounded Rectangle 35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21" name="Rectangle 20"/>
              <p:cNvSpPr/>
              <p:nvPr/>
            </p:nvSpPr>
            <p:spPr bwMode="auto">
              <a:xfrm>
                <a:off x="5361788" y="2104137"/>
                <a:ext cx="839496" cy="196777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  <p:grpSp>
          <p:nvGrpSpPr>
            <p:cNvPr id="4" name="Group 3"/>
            <p:cNvGrpSpPr/>
            <p:nvPr/>
          </p:nvGrpSpPr>
          <p:grpSpPr bwMode="auto">
            <a:xfrm>
              <a:off x="2862987" y="1894632"/>
              <a:ext cx="1417556" cy="2448506"/>
              <a:chOff x="2862987" y="1894632"/>
              <a:chExt cx="1417556" cy="2448506"/>
            </a:xfrm>
          </p:grpSpPr>
          <p:sp>
            <p:nvSpPr>
              <p:cNvPr id="12" name="Rounded Rectangle 24"/>
              <p:cNvSpPr/>
              <p:nvPr userDrawn="1"/>
            </p:nvSpPr>
            <p:spPr bwMode="auto">
              <a:xfrm>
                <a:off x="2862987" y="1894632"/>
                <a:ext cx="1417556" cy="244850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13" name="Rectangle 12"/>
              <p:cNvSpPr/>
              <p:nvPr userDrawn="1"/>
            </p:nvSpPr>
            <p:spPr bwMode="auto">
              <a:xfrm>
                <a:off x="3478559" y="2015923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14" name="Group 13"/>
              <p:cNvGrpSpPr/>
              <p:nvPr userDrawn="1"/>
            </p:nvGrpSpPr>
            <p:grpSpPr bwMode="auto">
              <a:xfrm>
                <a:off x="3503098" y="4128565"/>
                <a:ext cx="137331" cy="151064"/>
                <a:chOff x="2453209" y="5151638"/>
                <a:chExt cx="191820" cy="211002"/>
              </a:xfrm>
            </p:grpSpPr>
            <p:sp>
              <p:nvSpPr>
                <p:cNvPr id="16" name="Oval 15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17" name="Rounded Rectangle 33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15" name="Rectangle 14"/>
              <p:cNvSpPr/>
              <p:nvPr/>
            </p:nvSpPr>
            <p:spPr bwMode="auto">
              <a:xfrm>
                <a:off x="2958987" y="2104137"/>
                <a:ext cx="839496" cy="19677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  <p:grpSp>
          <p:nvGrpSpPr>
            <p:cNvPr id="5" name="Group 4"/>
            <p:cNvGrpSpPr/>
            <p:nvPr/>
          </p:nvGrpSpPr>
          <p:grpSpPr bwMode="auto">
            <a:xfrm>
              <a:off x="3789598" y="1731312"/>
              <a:ext cx="1559139" cy="2693057"/>
              <a:chOff x="3789598" y="1731312"/>
              <a:chExt cx="1559139" cy="2693057"/>
            </a:xfrm>
          </p:grpSpPr>
          <p:sp>
            <p:nvSpPr>
              <p:cNvPr id="6" name="Rounded Rectangle 27"/>
              <p:cNvSpPr/>
              <p:nvPr userDrawn="1"/>
            </p:nvSpPr>
            <p:spPr bwMode="auto">
              <a:xfrm>
                <a:off x="3789598" y="1731312"/>
                <a:ext cx="1559139" cy="2693057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7" name="Rectangle 6"/>
              <p:cNvSpPr/>
              <p:nvPr userDrawn="1"/>
            </p:nvSpPr>
            <p:spPr bwMode="auto">
              <a:xfrm>
                <a:off x="4475963" y="1858631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8" name="Group 7"/>
              <p:cNvGrpSpPr/>
              <p:nvPr userDrawn="1"/>
            </p:nvGrpSpPr>
            <p:grpSpPr bwMode="auto">
              <a:xfrm>
                <a:off x="4493644" y="4176986"/>
                <a:ext cx="151047" cy="166152"/>
                <a:chOff x="2453209" y="5151638"/>
                <a:chExt cx="191820" cy="211002"/>
              </a:xfrm>
            </p:grpSpPr>
            <p:sp>
              <p:nvSpPr>
                <p:cNvPr id="10" name="Oval 9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11" name="Rounded Rectangle 31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9" name="Rectangle 8"/>
              <p:cNvSpPr/>
              <p:nvPr/>
            </p:nvSpPr>
            <p:spPr bwMode="auto">
              <a:xfrm>
                <a:off x="3888524" y="1953447"/>
                <a:ext cx="1370057" cy="216254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</p:grpSp>
      <p:sp>
        <p:nvSpPr>
          <p:cNvPr id="1915067498" name="Picture Placeholder 2"/>
          <p:cNvSpPr>
            <a:spLocks noGrp="1"/>
          </p:cNvSpPr>
          <p:nvPr>
            <p:ph type="pic" idx="11" hasCustomPrompt="1"/>
          </p:nvPr>
        </p:nvSpPr>
        <p:spPr bwMode="auto">
          <a:xfrm>
            <a:off x="5328994" y="1897629"/>
            <a:ext cx="1530045" cy="24033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239528053" name="Picture Placeholder 2"/>
          <p:cNvSpPr>
            <a:spLocks noGrp="1"/>
          </p:cNvSpPr>
          <p:nvPr>
            <p:ph type="pic" idx="12" hasCustomPrompt="1"/>
          </p:nvPr>
        </p:nvSpPr>
        <p:spPr bwMode="auto">
          <a:xfrm>
            <a:off x="4289755" y="2057745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1379207822" name="Picture Placeholder 2"/>
          <p:cNvSpPr>
            <a:spLocks noGrp="1"/>
          </p:cNvSpPr>
          <p:nvPr>
            <p:ph type="pic" idx="13" hasCustomPrompt="1"/>
          </p:nvPr>
        </p:nvSpPr>
        <p:spPr bwMode="auto">
          <a:xfrm>
            <a:off x="6974022" y="2057745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1191823632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189157" name="Rectangle 1"/>
          <p:cNvSpPr/>
          <p:nvPr userDrawn="1"/>
        </p:nvSpPr>
        <p:spPr bwMode="auto">
          <a:xfrm>
            <a:off x="826852" y="0"/>
            <a:ext cx="4562272" cy="41731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6401313" name="그림 개체 틀 2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2490281" y="3287949"/>
            <a:ext cx="8874868" cy="29223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 And Send To Back</a:t>
            </a:r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6363" name="Picture Placeholder 33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 extrusionOk="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Place 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3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452061" name="Picture Placeholder 7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5658418" y="2"/>
            <a:ext cx="6533583" cy="6857999"/>
          </a:xfrm>
          <a:custGeom>
            <a:avLst/>
            <a:gdLst>
              <a:gd name="connsiteX0" fmla="*/ 2592666 w 6533583"/>
              <a:gd name="connsiteY0" fmla="*/ 0 h 6857999"/>
              <a:gd name="connsiteX1" fmla="*/ 6533583 w 6533583"/>
              <a:gd name="connsiteY1" fmla="*/ 0 h 6857999"/>
              <a:gd name="connsiteX2" fmla="*/ 6533583 w 6533583"/>
              <a:gd name="connsiteY2" fmla="*/ 1085634 h 6857999"/>
              <a:gd name="connsiteX3" fmla="*/ 4351340 w 6533583"/>
              <a:gd name="connsiteY3" fmla="*/ 6857999 h 6857999"/>
              <a:gd name="connsiteX4" fmla="*/ 0 w 6533583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3583" h="6857999" extrusionOk="0">
                <a:moveTo>
                  <a:pt x="2592666" y="0"/>
                </a:moveTo>
                <a:lnTo>
                  <a:pt x="6533583" y="0"/>
                </a:lnTo>
                <a:lnTo>
                  <a:pt x="6533583" y="1085634"/>
                </a:lnTo>
                <a:lnTo>
                  <a:pt x="435134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800"/>
            </a:lvl1pPr>
          </a:lstStyle>
          <a:p>
            <a:pPr>
              <a:defRPr/>
            </a:pPr>
            <a:r>
              <a:rPr lang="en-US"/>
              <a:t>Your Picture Here And Send To Back</a:t>
            </a:r>
            <a:endParaRPr 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4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5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258466" name="Rectangle 1"/>
          <p:cNvSpPr/>
          <p:nvPr userDrawn="1"/>
        </p:nvSpPr>
        <p:spPr bwMode="auto">
          <a:xfrm>
            <a:off x="-3" y="-1"/>
            <a:ext cx="12192003" cy="3555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967683329" name="그림 개체 틀 2"/>
          <p:cNvSpPr>
            <a:spLocks noGrp="1"/>
          </p:cNvSpPr>
          <p:nvPr>
            <p:ph type="pic" sz="quarter" idx="65" hasCustomPrompt="1"/>
          </p:nvPr>
        </p:nvSpPr>
        <p:spPr bwMode="auto">
          <a:xfrm>
            <a:off x="5100846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</a:t>
            </a:r>
            <a:endParaRPr lang="ko-KR"/>
          </a:p>
        </p:txBody>
      </p:sp>
      <p:sp>
        <p:nvSpPr>
          <p:cNvPr id="507759450" name="그림 개체 틀 2"/>
          <p:cNvSpPr>
            <a:spLocks noGrp="1"/>
          </p:cNvSpPr>
          <p:nvPr>
            <p:ph type="pic" sz="quarter" idx="66" hasCustomPrompt="1"/>
          </p:nvPr>
        </p:nvSpPr>
        <p:spPr bwMode="auto">
          <a:xfrm>
            <a:off x="8480425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</a:t>
            </a:r>
            <a:endParaRPr lang="ko-KR"/>
          </a:p>
        </p:txBody>
      </p:sp>
      <p:sp>
        <p:nvSpPr>
          <p:cNvPr id="1311947511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NG sets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115374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PNG &amp; Shapes Layout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Icon sets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562735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12347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Icon Sets Layout</a:t>
            </a:r>
            <a:endParaRPr/>
          </a:p>
        </p:txBody>
      </p:sp>
      <p:sp>
        <p:nvSpPr>
          <p:cNvPr id="1209820537" name="Rounded Rectangle 2"/>
          <p:cNvSpPr/>
          <p:nvPr userDrawn="1"/>
        </p:nvSpPr>
        <p:spPr bwMode="auto"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/>
          </a:p>
        </p:txBody>
      </p:sp>
      <p:sp>
        <p:nvSpPr>
          <p:cNvPr id="1811420328" name="Rounded Rectangle 3"/>
          <p:cNvSpPr/>
          <p:nvPr userDrawn="1"/>
        </p:nvSpPr>
        <p:spPr bwMode="auto"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>
              <a:solidFill>
                <a:schemeClr val="bg1"/>
              </a:solidFill>
            </a:endParaRPr>
          </a:p>
        </p:txBody>
      </p:sp>
      <p:sp>
        <p:nvSpPr>
          <p:cNvPr id="482595050" name="Half Frame 4"/>
          <p:cNvSpPr/>
          <p:nvPr userDrawn="1"/>
        </p:nvSpPr>
        <p:spPr bwMode="auto"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49928152" name="TextBox 57"/>
          <p:cNvSpPr txBox="1"/>
          <p:nvPr userDrawn="1"/>
        </p:nvSpPr>
        <p:spPr bwMode="auto"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You can Resize without losing quality</a:t>
            </a:r>
            <a:endParaRPr lang="ko-KR" sz="14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01586374" name="TextBox 58"/>
          <p:cNvSpPr txBox="1"/>
          <p:nvPr userDrawn="1"/>
        </p:nvSpPr>
        <p:spPr bwMode="auto"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You can Change Fill Color &amp;</a:t>
            </a:r>
            <a:endParaRPr/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Line Color</a:t>
            </a:r>
            <a:endParaRPr lang="ko-KR" sz="14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92170361" name="TextBox 59"/>
          <p:cNvSpPr txBox="1"/>
          <p:nvPr userDrawn="1"/>
        </p:nvSpPr>
        <p:spPr bwMode="auto">
          <a:xfrm>
            <a:off x="721229" y="5808437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www.allppt.com</a:t>
            </a:r>
            <a:endParaRPr lang="ko-KR" sz="1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9349500" name="TextBox 60"/>
          <p:cNvSpPr txBox="1"/>
          <p:nvPr userDrawn="1"/>
        </p:nvSpPr>
        <p:spPr bwMode="auto"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FREE </a:t>
            </a:r>
            <a:endParaRPr/>
          </a:p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ection Break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8409357" name="Espaço Reservado para Imagem 16" descr="Avião laranja e preto&#10;&#10;Descrição gerada automaticamente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782" r="12781"/>
          <a:stretch/>
        </p:blipFill>
        <p:spPr bwMode="auto">
          <a:xfrm>
            <a:off x="6867327" y="457200"/>
            <a:ext cx="5159583" cy="5943233"/>
          </a:xfrm>
        </p:spPr>
      </p:pic>
      <p:sp>
        <p:nvSpPr>
          <p:cNvPr id="741455356" name="Retângulo 5"/>
          <p:cNvSpPr/>
          <p:nvPr/>
        </p:nvSpPr>
        <p:spPr bwMode="auto">
          <a:xfrm>
            <a:off x="2098761" y="5988017"/>
            <a:ext cx="2669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 dirty="0"/>
              <a:t>SJC - 2025</a:t>
            </a:r>
            <a:endParaRPr b="1" dirty="0"/>
          </a:p>
        </p:txBody>
      </p:sp>
      <p:sp>
        <p:nvSpPr>
          <p:cNvPr id="207206742" name="CaixaDeTexto 6"/>
          <p:cNvSpPr txBox="1"/>
          <p:nvPr/>
        </p:nvSpPr>
        <p:spPr bwMode="auto">
          <a:xfrm>
            <a:off x="727534" y="1529309"/>
            <a:ext cx="5412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b="1" dirty="0"/>
              <a:t>Projeto de Estruturas Aeronáuticas IV – 6° SEM</a:t>
            </a:r>
            <a:endParaRPr dirty="0"/>
          </a:p>
          <a:p>
            <a:pPr algn="ctr">
              <a:defRPr/>
            </a:pPr>
            <a:endParaRPr lang="pt-BR" b="1" dirty="0"/>
          </a:p>
          <a:p>
            <a:pPr algn="ctr">
              <a:defRPr/>
            </a:pPr>
            <a:r>
              <a:rPr lang="pt-BR" b="1" dirty="0"/>
              <a:t>Prof°: Rodrigo Elias</a:t>
            </a:r>
          </a:p>
          <a:p>
            <a:pPr algn="ctr">
              <a:defRPr/>
            </a:pPr>
            <a:endParaRPr lang="pt-BR" b="1" dirty="0"/>
          </a:p>
          <a:p>
            <a:pPr algn="ctr">
              <a:defRPr/>
            </a:pPr>
            <a:r>
              <a:rPr lang="pt-BR" b="1" dirty="0"/>
              <a:t>Equipe: Maktub</a:t>
            </a:r>
            <a:endParaRPr dirty="0"/>
          </a:p>
        </p:txBody>
      </p:sp>
      <p:sp>
        <p:nvSpPr>
          <p:cNvPr id="878296331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pt-BR"/>
          </a:p>
        </p:txBody>
      </p:sp>
      <p:pic>
        <p:nvPicPr>
          <p:cNvPr id="1170262187" name="Picture 1" descr="Fatec-logo 201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502507" y="228600"/>
            <a:ext cx="5862314" cy="1038740"/>
          </a:xfrm>
          <a:prstGeom prst="rect">
            <a:avLst/>
          </a:prstGeom>
          <a:noFill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A120E6-0751-D379-F2E6-9E8966989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5090" y="3142871"/>
            <a:ext cx="6544529" cy="25249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1"/>
    </mc:Choice>
    <mc:Fallback xmlns="">
      <p:transition spd="slow" advTm="102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Termo de Abertura do Projeto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19339312" name="Retângulo 2"/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/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2B1F40-C216-F55D-7B89-6F3FB70D0C74}"/>
              </a:ext>
            </a:extLst>
          </p:cNvPr>
          <p:cNvSpPr txBox="1"/>
          <p:nvPr/>
        </p:nvSpPr>
        <p:spPr>
          <a:xfrm>
            <a:off x="883420" y="1714211"/>
            <a:ext cx="9786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+mn-lt"/>
                <a:cs typeface="+mn-lt"/>
              </a:rPr>
              <a:t>Berço de Movimentação e Inspeção de Painel Aeronáutico – Prova de Conceito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E98E28-481C-4BFC-7628-93B3F5FCC16D}"/>
              </a:ext>
            </a:extLst>
          </p:cNvPr>
          <p:cNvSpPr txBox="1"/>
          <p:nvPr/>
        </p:nvSpPr>
        <p:spPr>
          <a:xfrm>
            <a:off x="885852" y="2170651"/>
            <a:ext cx="94570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Arial Unicode MS"/>
                <a:cs typeface="+mn-lt"/>
              </a:rPr>
              <a:t>Nomes da Empresa e Responsável por autorizar o Projeto</a:t>
            </a:r>
            <a:endParaRPr lang="pt-BR">
              <a:ea typeface="Arial Unicode MS"/>
              <a:cs typeface="+mn-lt"/>
            </a:endParaRPr>
          </a:p>
          <a:p>
            <a:r>
              <a:rPr lang="pt-BR" b="1" dirty="0">
                <a:ea typeface="+mn-lt"/>
                <a:cs typeface="+mn-lt"/>
              </a:rPr>
              <a:t>Empresa:</a:t>
            </a:r>
            <a:r>
              <a:rPr lang="pt-BR" dirty="0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Aernnova</a:t>
            </a:r>
            <a:r>
              <a:rPr lang="pt-BR" dirty="0">
                <a:ea typeface="+mn-lt"/>
                <a:cs typeface="+mn-lt"/>
              </a:rPr>
              <a:t> Aerospace</a:t>
            </a:r>
            <a:br>
              <a:rPr lang="pt-BR" dirty="0">
                <a:ea typeface="+mn-lt"/>
                <a:cs typeface="+mn-lt"/>
              </a:rPr>
            </a:br>
            <a:r>
              <a:rPr lang="pt-BR" b="1" dirty="0">
                <a:ea typeface="+mn-lt"/>
                <a:cs typeface="+mn-lt"/>
              </a:rPr>
              <a:t>Responsável pela autorização:</a:t>
            </a:r>
            <a:r>
              <a:rPr lang="pt-BR" dirty="0">
                <a:ea typeface="+mn-lt"/>
                <a:cs typeface="+mn-lt"/>
              </a:rPr>
              <a:t> Prof. Rodrigo Elias (Projeto de Estruturas Aeronáuticas IV – 6° SEM)</a:t>
            </a:r>
            <a:endParaRPr lang="pt-BR" dirty="0"/>
          </a:p>
          <a:p>
            <a:pPr algn="l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5C8B031-BBAC-9181-9A04-7D0B57811180}"/>
              </a:ext>
            </a:extLst>
          </p:cNvPr>
          <p:cNvSpPr txBox="1"/>
          <p:nvPr/>
        </p:nvSpPr>
        <p:spPr>
          <a:xfrm>
            <a:off x="1057399" y="3861910"/>
            <a:ext cx="790214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b="1" dirty="0" err="1">
                <a:latin typeface="Arial"/>
                <a:ea typeface="+mn-lt"/>
                <a:cs typeface="+mn-lt"/>
              </a:rPr>
              <a:t>Product</a:t>
            </a:r>
            <a:r>
              <a:rPr lang="pt-BR" b="1" dirty="0">
                <a:latin typeface="Arial"/>
                <a:ea typeface="+mn-lt"/>
                <a:cs typeface="+mn-lt"/>
              </a:rPr>
              <a:t> </a:t>
            </a:r>
            <a:r>
              <a:rPr lang="pt-BR" b="1" dirty="0" err="1">
                <a:latin typeface="Arial"/>
                <a:ea typeface="+mn-lt"/>
                <a:cs typeface="+mn-lt"/>
              </a:rPr>
              <a:t>Owner</a:t>
            </a:r>
            <a:r>
              <a:rPr lang="pt-BR" b="1" dirty="0">
                <a:latin typeface="Arial"/>
                <a:ea typeface="+mn-lt"/>
                <a:cs typeface="+mn-lt"/>
              </a:rPr>
              <a:t>:</a:t>
            </a:r>
            <a:r>
              <a:rPr lang="pt-BR" dirty="0">
                <a:latin typeface="Arial"/>
                <a:ea typeface="+mn-lt"/>
                <a:cs typeface="+mn-lt"/>
              </a:rPr>
              <a:t> </a:t>
            </a:r>
            <a:r>
              <a:rPr lang="pt-BR" dirty="0" err="1">
                <a:latin typeface="Arial"/>
                <a:ea typeface="+mn-lt"/>
                <a:cs typeface="+mn-lt"/>
              </a:rPr>
              <a:t>Aernnova</a:t>
            </a:r>
            <a:r>
              <a:rPr lang="pt-BR" dirty="0">
                <a:latin typeface="Arial"/>
                <a:ea typeface="+mn-lt"/>
                <a:cs typeface="+mn-lt"/>
              </a:rPr>
              <a:t> Aerospace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latin typeface="Arial"/>
                <a:ea typeface="+mn-lt"/>
                <a:cs typeface="+mn-lt"/>
              </a:rPr>
              <a:t>Scrum Master:</a:t>
            </a:r>
            <a:r>
              <a:rPr lang="pt-BR" dirty="0">
                <a:latin typeface="Arial"/>
                <a:ea typeface="+mn-lt"/>
                <a:cs typeface="+mn-lt"/>
              </a:rPr>
              <a:t> Eliza Souza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latin typeface="Arial"/>
                <a:ea typeface="+mn-lt"/>
                <a:cs typeface="+mn-lt"/>
              </a:rPr>
              <a:t>Scrum Team:</a:t>
            </a:r>
            <a:endParaRPr lang="pt-BR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latin typeface="Arial"/>
                <a:ea typeface="+mn-lt"/>
                <a:cs typeface="+mn-lt"/>
              </a:rPr>
              <a:t>Fábio Carvalho</a:t>
            </a:r>
          </a:p>
          <a:p>
            <a:pPr marL="285750" indent="-285750">
              <a:buFont typeface="Arial"/>
              <a:buChar char="•"/>
            </a:pPr>
            <a:r>
              <a:rPr lang="pt-BR" dirty="0">
                <a:latin typeface="Arial"/>
                <a:ea typeface="+mn-lt"/>
                <a:cs typeface="+mn-lt"/>
              </a:rPr>
              <a:t>Leandro Macedo</a:t>
            </a:r>
          </a:p>
          <a:p>
            <a:pPr marL="285750" indent="-285750">
              <a:buFont typeface="Arial"/>
              <a:buChar char="•"/>
            </a:pPr>
            <a:r>
              <a:rPr lang="pt-BR" dirty="0">
                <a:latin typeface="Arial"/>
                <a:ea typeface="+mn-lt"/>
                <a:cs typeface="+mn-lt"/>
              </a:rPr>
              <a:t>Jorge Henrique</a:t>
            </a:r>
          </a:p>
          <a:p>
            <a:pPr marL="285750" indent="-285750">
              <a:buFont typeface="Arial"/>
              <a:buChar char="•"/>
            </a:pPr>
            <a:r>
              <a:rPr lang="pt-BR" dirty="0" err="1">
                <a:latin typeface="Arial"/>
                <a:ea typeface="+mn-lt"/>
                <a:cs typeface="+mn-lt"/>
              </a:rPr>
              <a:t>Katty</a:t>
            </a:r>
            <a:r>
              <a:rPr lang="pt-BR" dirty="0">
                <a:latin typeface="Arial"/>
                <a:ea typeface="+mn-lt"/>
                <a:cs typeface="+mn-lt"/>
              </a:rPr>
              <a:t> Anne</a:t>
            </a:r>
          </a:p>
          <a:p>
            <a:pPr marL="285750" indent="-285750">
              <a:buFont typeface="Arial"/>
              <a:buChar char="•"/>
            </a:pPr>
            <a:r>
              <a:rPr lang="pt-BR" dirty="0">
                <a:latin typeface="Arial"/>
                <a:ea typeface="+mn-lt"/>
                <a:cs typeface="+mn-lt"/>
              </a:rPr>
              <a:t>Sidney Nascimento</a:t>
            </a:r>
          </a:p>
          <a:p>
            <a:pPr algn="l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D729A45-4EB8-8943-7D53-1E8A4CA3A80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95346D0B-263E-2FF5-4329-998E09E900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</a:rPr>
              <a:t>Termo de Abertura do Projeto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2B59A8E1-8317-A433-B147-190B03B1C0F9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D82924D8-8F68-B9B6-E28E-670349074B74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FB2840-0A49-E720-FE2F-EA9959DCCC53}"/>
              </a:ext>
            </a:extLst>
          </p:cNvPr>
          <p:cNvSpPr txBox="1"/>
          <p:nvPr/>
        </p:nvSpPr>
        <p:spPr>
          <a:xfrm>
            <a:off x="1054469" y="1710708"/>
            <a:ext cx="934376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b="1" dirty="0"/>
              <a:t>Objetivo</a:t>
            </a:r>
            <a:endParaRPr lang="pt-BR" dirty="0"/>
          </a:p>
          <a:p>
            <a:endParaRPr lang="pt-BR" b="1" dirty="0">
              <a:ea typeface="Arial Unicode MS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O objetivo do projeto é desenvolver um ferramental escamoteável que permita a movimentação, posicionamento e inspeção de painéis aeronáuticos de forma segura, ergonômica e eficiente.</a:t>
            </a:r>
            <a:endParaRPr lang="pt-BR" dirty="0">
              <a:ea typeface="Arial Unicode MS"/>
              <a:cs typeface="+mn-lt"/>
            </a:endParaRPr>
          </a:p>
          <a:p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ea typeface="+mn-lt"/>
                <a:cs typeface="+mn-lt"/>
              </a:rPr>
              <a:t>Justificativa</a:t>
            </a:r>
            <a:endParaRPr lang="pt-BR">
              <a:ea typeface="Arial Unicode MS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 A justificativa está baseada na necessidade de reduzir esforço físico dos operadores, padronizar o fluxo de movimentação, garantir precisão no manuseio dos painéis e aumentar a segurança no transporte até a ponte rolante.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2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32C590D-7755-8F85-4845-7DC71A31765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E7367370-C853-1684-DE85-4AC0382DF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Descrição da Solução/Melhoria proposta</a:t>
            </a: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833C7FD6-21CE-ED54-B20F-E724B07DD886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2440EDD6-A3FD-62B6-1607-C6A9B1E17405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FAE0DF6-0F64-1F1F-FA20-704C185A9A78}"/>
              </a:ext>
            </a:extLst>
          </p:cNvPr>
          <p:cNvSpPr txBox="1"/>
          <p:nvPr/>
        </p:nvSpPr>
        <p:spPr>
          <a:xfrm>
            <a:off x="1055541" y="1984944"/>
            <a:ext cx="1007487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A solução proposta consiste em um </a:t>
            </a:r>
            <a:r>
              <a:rPr lang="pt-BR" b="1" dirty="0">
                <a:ea typeface="+mn-lt"/>
                <a:cs typeface="+mn-lt"/>
              </a:rPr>
              <a:t>berço de movimentação e inspeção de painel aeronáutico</a:t>
            </a:r>
            <a:r>
              <a:rPr lang="pt-BR" dirty="0">
                <a:ea typeface="+mn-lt"/>
                <a:cs typeface="+mn-lt"/>
              </a:rPr>
              <a:t>, composto por:</a:t>
            </a:r>
            <a:endParaRPr lang="pt-BR" dirty="0"/>
          </a:p>
          <a:p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Estrutura escamoteável, permitindo regulagem de altura e desacoplamento de partes;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Trilho desmontável para movimentação entre áreas;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Sistema de acoplamento à ponte rolante por meio de cabos, pino guia;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Layout redesenhado para melhor fluxo de recebimento → bancada → inspeção → área de içamento.</a:t>
            </a:r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3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EDA8C37-E5D2-79C7-503B-F0150F374E3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7DD5DA1B-1620-4D26-7917-839E73F9C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Premissas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E44CC51F-F02D-6367-746E-73A89E01976F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7A9281B0-96A2-E0FD-A9A2-87A935F69833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402C84-9555-E137-4896-FBBBEA1D1985}"/>
              </a:ext>
            </a:extLst>
          </p:cNvPr>
          <p:cNvSpPr txBox="1"/>
          <p:nvPr/>
        </p:nvSpPr>
        <p:spPr>
          <a:xfrm>
            <a:off x="1052037" y="2177518"/>
            <a:ext cx="96732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O ferramental deve ser compatível com os painéis aeronáuticos utilizados pela </a:t>
            </a:r>
            <a:r>
              <a:rPr lang="pt-BR" dirty="0" err="1">
                <a:ea typeface="+mn-lt"/>
                <a:cs typeface="+mn-lt"/>
              </a:rPr>
              <a:t>Aernnova</a:t>
            </a:r>
            <a:r>
              <a:rPr lang="pt-BR" dirty="0">
                <a:ea typeface="+mn-lt"/>
                <a:cs typeface="+mn-lt"/>
              </a:rPr>
              <a:t> Aerospace.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O projeto deve atender normas de segurança e ergonomia aplicáveis ao setor aeronáutico.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O uso da ponte rolante é necessário para o transporte final até o gabarito.</a:t>
            </a:r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80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26D67D4-D9D4-C7AE-E2D3-E6631F290F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17E6AE1C-E26A-215E-E2FC-04D0C9172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Restrições</a:t>
            </a:r>
            <a:endParaRPr lang="pt-BR" b="1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33F11F48-FC9B-B4F1-3E3A-13B60205E125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616D3A80-246C-28A5-458D-C07B841C2184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427615-C99C-6768-83EE-26CF4C1C7128}"/>
              </a:ext>
            </a:extLst>
          </p:cNvPr>
          <p:cNvSpPr txBox="1"/>
          <p:nvPr/>
        </p:nvSpPr>
        <p:spPr>
          <a:xfrm>
            <a:off x="1051035" y="1951119"/>
            <a:ext cx="986892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 O ferramental precisa ser modular e de fácil desmontagem/montagem.</a:t>
            </a:r>
          </a:p>
          <a:p>
            <a:pPr marL="285750" indent="-285750"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 Restrição de espaço físico: precisa operar em áreas definidas (recebimento, inspeção,    ponte rolante) sem atrapalhar outros fluxos.</a:t>
            </a:r>
          </a:p>
          <a:p>
            <a:pPr marL="285750" indent="-285750"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  Existe restrições de compatibilidade dimensional</a:t>
            </a:r>
            <a:endParaRPr lang="pt-BR" dirty="0">
              <a:ea typeface="Arial Unicode MS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  Restrito e adaptado somente para o tipo/tamanho de painel definido no projeto.</a:t>
            </a:r>
            <a:endParaRPr lang="pt-BR" dirty="0"/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  Uso em outros componentes exigiria adaptações.</a:t>
            </a:r>
            <a:endParaRPr lang="pt-BR" dirty="0"/>
          </a:p>
          <a:p>
            <a:pPr marL="285750" indent="-285750">
              <a:buFont typeface="Arial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17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F0C73B-A9E7-ED4D-F308-272F25E3BF5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9425E117-BC90-F1C5-B144-0693E1664C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87973" y="68368"/>
            <a:ext cx="8734354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Riscos e Oportunidades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77AEC68D-1329-FFA3-8650-660AD6EE56D9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6F9C7441-F3F8-B83B-16D0-7616FA66EF25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19B475-4656-FF00-7950-1ADCC20D7BD6}"/>
              </a:ext>
            </a:extLst>
          </p:cNvPr>
          <p:cNvSpPr txBox="1"/>
          <p:nvPr/>
        </p:nvSpPr>
        <p:spPr>
          <a:xfrm>
            <a:off x="1230522" y="1396639"/>
            <a:ext cx="663557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+mn-lt"/>
                <a:cs typeface="+mn-lt"/>
              </a:rPr>
              <a:t>Riscos</a:t>
            </a:r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ea typeface="+mn-lt"/>
                <a:cs typeface="+mn-lt"/>
              </a:rPr>
              <a:t>Erros de operação</a:t>
            </a:r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Operadores sem treinamento adequado podem danificar o painel ou o próprio berço.</a:t>
            </a:r>
          </a:p>
          <a:p>
            <a:pPr marL="285750" indent="-285750" algn="l">
              <a:buFont typeface="Arial"/>
              <a:buChar char="•"/>
            </a:pPr>
            <a:endParaRPr lang="pt-BR" dirty="0"/>
          </a:p>
          <a:p>
            <a:pPr>
              <a:buFont typeface="Arial"/>
              <a:buChar char="•"/>
            </a:pPr>
            <a:r>
              <a:rPr lang="pt-BR" b="1" dirty="0">
                <a:ea typeface="+mn-lt"/>
                <a:cs typeface="+mn-lt"/>
              </a:rPr>
              <a:t>Desalinhamento ou folga nos trilhos</a:t>
            </a:r>
            <a:endParaRPr lang="pt-BR" dirty="0"/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Pode comprometer a precisão da movimentação do painel.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87885A-5261-30CA-9619-086CF3B23C3F}"/>
              </a:ext>
            </a:extLst>
          </p:cNvPr>
          <p:cNvSpPr txBox="1"/>
          <p:nvPr/>
        </p:nvSpPr>
        <p:spPr>
          <a:xfrm>
            <a:off x="1234673" y="3754932"/>
            <a:ext cx="95188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/>
              <a:t>Oportunidades</a:t>
            </a:r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Melhor ergonomia para operadores, reduzindo fadiga e riscos de acidente.</a:t>
            </a:r>
            <a:endParaRPr lang="pt-BR" b="1" dirty="0"/>
          </a:p>
          <a:p>
            <a:pPr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Aumento da produtividade no fluxo de movimentação e inspeção.</a:t>
            </a:r>
            <a:endParaRPr lang="pt-BR" dirty="0"/>
          </a:p>
          <a:p>
            <a:pPr>
              <a:buFont typeface="Arial"/>
              <a:buChar char="•"/>
            </a:pPr>
            <a:endParaRPr lang="pt-BR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Possibilidade de reaplicar o conceito para outros tipos de painéis aeronáuticos com tamanhos diferentes.</a:t>
            </a:r>
            <a:endParaRPr lang="pt-BR" dirty="0"/>
          </a:p>
          <a:p>
            <a:pPr marL="285750" indent="-285750">
              <a:buFont typeface="Arial"/>
              <a:buChar char="•"/>
            </a:pPr>
            <a:endParaRPr lang="pt-BR" b="1" dirty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638175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A15A809-BC43-611B-EDA7-EB24B9A6E9F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>
            <a:extLst>
              <a:ext uri="{FF2B5EF4-FFF2-40B4-BE49-F238E27FC236}">
                <a16:creationId xmlns:a16="http://schemas.microsoft.com/office/drawing/2014/main" id="{1DEECF80-470A-9A40-8DDD-562F575B96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</a:rPr>
              <a:t>Marcos/Entregáveis Principais</a:t>
            </a:r>
            <a:endParaRPr lang="pt-BR" sz="1200">
              <a:solidFill>
                <a:schemeClr val="tx1"/>
              </a:solidFill>
            </a:endParaRPr>
          </a:p>
        </p:txBody>
      </p:sp>
      <p:sp>
        <p:nvSpPr>
          <p:cNvPr id="1819339312" name="Retângulo 2">
            <a:extLst>
              <a:ext uri="{FF2B5EF4-FFF2-40B4-BE49-F238E27FC236}">
                <a16:creationId xmlns:a16="http://schemas.microsoft.com/office/drawing/2014/main" id="{7E55B9AD-7255-6789-28A8-67084DFE0D28}"/>
              </a:ext>
            </a:extLst>
          </p:cNvPr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>
            <a:extLst>
              <a:ext uri="{FF2B5EF4-FFF2-40B4-BE49-F238E27FC236}">
                <a16:creationId xmlns:a16="http://schemas.microsoft.com/office/drawing/2014/main" id="{DF57384F-B7E1-3CC0-FB2A-B0ADB6322A99}"/>
              </a:ext>
            </a:extLst>
          </p:cNvPr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 err="1"/>
              <a:t>Slide:Jorge</a:t>
            </a:r>
            <a:endParaRPr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210A69-2922-A097-268C-95FB540ADF74}"/>
              </a:ext>
            </a:extLst>
          </p:cNvPr>
          <p:cNvSpPr txBox="1"/>
          <p:nvPr/>
        </p:nvSpPr>
        <p:spPr>
          <a:xfrm>
            <a:off x="1054327" y="1402360"/>
            <a:ext cx="1023963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pt-BR" b="1" dirty="0">
              <a:ea typeface="Arial Unicode MS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Definição da Prova de Conceito e requisitos funcionais.</a:t>
            </a:r>
            <a:endParaRPr lang="pt-B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Desenvolvimento do layout antes/depois da solução.</a:t>
            </a:r>
            <a:endParaRPr lang="pt-B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Configuração do ferramental (parte desacoplável e trilho desmontável).</a:t>
            </a:r>
            <a:endParaRPr lang="pt-B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Interface do ferramental com a ponte rolante.</a:t>
            </a:r>
            <a:endParaRPr lang="pt-B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Apresentação final com análise de custos médios e fornecedores.</a:t>
            </a:r>
            <a:endParaRPr lang="pt-BR">
              <a:ea typeface="+mn-lt"/>
              <a:cs typeface="+mn-lt"/>
            </a:endParaRP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592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4076551" name="Imagem 61407655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05498" y="2334387"/>
            <a:ext cx="6025808" cy="4263259"/>
          </a:xfrm>
          <a:prstGeom prst="rect">
            <a:avLst/>
          </a:prstGeom>
        </p:spPr>
      </p:pic>
      <p:pic>
        <p:nvPicPr>
          <p:cNvPr id="1687634395" name="Imagem 168763439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7703" y="382831"/>
            <a:ext cx="5916421" cy="4341484"/>
          </a:xfrm>
          <a:prstGeom prst="rect">
            <a:avLst/>
          </a:prstGeom>
        </p:spPr>
      </p:pic>
      <p:sp>
        <p:nvSpPr>
          <p:cNvPr id="493518155" name="CaixaDeTexto 493518154"/>
          <p:cNvSpPr txBox="1"/>
          <p:nvPr/>
        </p:nvSpPr>
        <p:spPr bwMode="auto">
          <a:xfrm>
            <a:off x="207997" y="955429"/>
            <a:ext cx="2868634" cy="396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000" b="1"/>
              <a:t>Prova de Conceito</a:t>
            </a:r>
          </a:p>
        </p:txBody>
      </p:sp>
      <p:sp>
        <p:nvSpPr>
          <p:cNvPr id="611826916" name="CaixaDeTexto 611826915"/>
          <p:cNvSpPr txBox="1"/>
          <p:nvPr/>
        </p:nvSpPr>
        <p:spPr bwMode="auto">
          <a:xfrm>
            <a:off x="207997" y="4922935"/>
            <a:ext cx="5752294" cy="1432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200" b="1"/>
              <a:t>Ferramental: </a:t>
            </a:r>
            <a:endParaRPr sz="2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highlight>
                  <a:srgbClr val="00FFFF"/>
                </a:highlight>
                <a:latin typeface="Abadi"/>
                <a:ea typeface="Abadi"/>
                <a:cs typeface="Abadi"/>
              </a:rPr>
              <a:t>Berço de Movimentação e Inspeção de Painel Aeronáutico</a:t>
            </a:r>
            <a:endParaRPr sz="2200" b="1">
              <a:highlight>
                <a:srgbClr val="00FFFF"/>
              </a:highlight>
            </a:endParaRPr>
          </a:p>
        </p:txBody>
      </p:sp>
      <p:sp>
        <p:nvSpPr>
          <p:cNvPr id="630239646" name="Seta para a Direita 630239645"/>
          <p:cNvSpPr/>
          <p:nvPr/>
        </p:nvSpPr>
        <p:spPr bwMode="auto">
          <a:xfrm rot="1917781">
            <a:off x="5168683" y="3682036"/>
            <a:ext cx="1277760" cy="76182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18183948" name="CaixaDeTexto 1418183947"/>
          <p:cNvSpPr txBox="1"/>
          <p:nvPr/>
        </p:nvSpPr>
        <p:spPr bwMode="auto">
          <a:xfrm>
            <a:off x="8955123" y="5892175"/>
            <a:ext cx="1991607" cy="427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200" b="0" i="0" u="none" strike="noStrike" cap="none" spc="0">
                <a:solidFill>
                  <a:srgbClr val="000000"/>
                </a:solidFill>
                <a:highlight>
                  <a:srgbClr val="00FFFF"/>
                </a:highlight>
                <a:latin typeface="Abadi"/>
                <a:ea typeface="Abadi"/>
                <a:cs typeface="Abadi"/>
              </a:rPr>
              <a:t>Escamoteavel</a:t>
            </a:r>
            <a:endParaRPr sz="2000">
              <a:highlight>
                <a:srgbClr val="00FFFF"/>
              </a:highlight>
            </a:endParaRPr>
          </a:p>
        </p:txBody>
      </p:sp>
      <p:sp>
        <p:nvSpPr>
          <p:cNvPr id="1762496495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PROPOSTA INICIAL</a:t>
            </a:r>
            <a:endParaRPr lang="en-US" sz="2800"/>
          </a:p>
        </p:txBody>
      </p:sp>
      <p:sp>
        <p:nvSpPr>
          <p:cNvPr id="1793847972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3706795" name="CaixaDeTexto 4"/>
          <p:cNvSpPr txBox="1"/>
          <p:nvPr/>
        </p:nvSpPr>
        <p:spPr bwMode="auto">
          <a:xfrm>
            <a:off x="9558374" y="259593"/>
            <a:ext cx="2716063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/>
              <a:t>Slide:Leandro Macedo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3653205" name="Imagem 175365320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65663"/>
            <a:ext cx="6052922" cy="4282443"/>
          </a:xfrm>
          <a:prstGeom prst="rect">
            <a:avLst/>
          </a:prstGeom>
        </p:spPr>
      </p:pic>
      <p:sp>
        <p:nvSpPr>
          <p:cNvPr id="755628485" name="CaixaDeTexto 755628484"/>
          <p:cNvSpPr txBox="1"/>
          <p:nvPr/>
        </p:nvSpPr>
        <p:spPr bwMode="auto">
          <a:xfrm>
            <a:off x="22196" y="979982"/>
            <a:ext cx="31551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/>
              <a:t>Permite Configuração</a:t>
            </a:r>
            <a:endParaRPr sz="2000">
              <a:highlight>
                <a:srgbClr val="00FFFF"/>
              </a:highlight>
            </a:endParaRPr>
          </a:p>
        </p:txBody>
      </p:sp>
      <p:pic>
        <p:nvPicPr>
          <p:cNvPr id="882217678" name="Imagem 88221767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1">
            <a:off x="2711737" y="3653812"/>
            <a:ext cx="4551796" cy="3330871"/>
          </a:xfrm>
          <a:prstGeom prst="rect">
            <a:avLst/>
          </a:prstGeom>
        </p:spPr>
      </p:pic>
      <p:sp>
        <p:nvSpPr>
          <p:cNvPr id="2074275182" name="CaixaDeTexto 2074275181"/>
          <p:cNvSpPr txBox="1"/>
          <p:nvPr/>
        </p:nvSpPr>
        <p:spPr bwMode="auto">
          <a:xfrm>
            <a:off x="4667182" y="6085382"/>
            <a:ext cx="2771479" cy="7013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>
                <a:highlight>
                  <a:srgbClr val="00FFFF"/>
                </a:highlight>
              </a:rPr>
              <a:t>Parte-A: Desacoplável.</a:t>
            </a:r>
          </a:p>
        </p:txBody>
      </p:sp>
      <p:pic>
        <p:nvPicPr>
          <p:cNvPr id="1509511229" name="Imagem 150951122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853272" y="1407061"/>
            <a:ext cx="4762499" cy="3809999"/>
          </a:xfrm>
          <a:prstGeom prst="rect">
            <a:avLst/>
          </a:prstGeom>
        </p:spPr>
      </p:pic>
      <p:sp>
        <p:nvSpPr>
          <p:cNvPr id="1453452533" name="CaixaDeTexto 1453452532"/>
          <p:cNvSpPr txBox="1"/>
          <p:nvPr/>
        </p:nvSpPr>
        <p:spPr bwMode="auto">
          <a:xfrm>
            <a:off x="9155148" y="4536471"/>
            <a:ext cx="1362793" cy="396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>
                <a:highlight>
                  <a:srgbClr val="00FFFF"/>
                </a:highlight>
              </a:rPr>
              <a:t>Parte-B:</a:t>
            </a:r>
          </a:p>
        </p:txBody>
      </p:sp>
      <p:sp>
        <p:nvSpPr>
          <p:cNvPr id="991533955" name="Seta para a Direita 991533954"/>
          <p:cNvSpPr/>
          <p:nvPr/>
        </p:nvSpPr>
        <p:spPr bwMode="auto">
          <a:xfrm rot="1015613">
            <a:off x="5931030" y="2546010"/>
            <a:ext cx="1682748" cy="31749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773812737" name="Seta para a Direita 1773812736"/>
          <p:cNvSpPr/>
          <p:nvPr/>
        </p:nvSpPr>
        <p:spPr bwMode="auto">
          <a:xfrm rot="2504639">
            <a:off x="2181222" y="5286498"/>
            <a:ext cx="1182711" cy="317497"/>
          </a:xfrm>
          <a:prstGeom prst="rightArrow">
            <a:avLst>
              <a:gd name="adj1" fmla="val 4123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79608923" name="Seta Dobrada 779608922"/>
          <p:cNvSpPr/>
          <p:nvPr/>
        </p:nvSpPr>
        <p:spPr bwMode="auto">
          <a:xfrm flipH="1">
            <a:off x="11087136" y="2090562"/>
            <a:ext cx="168273" cy="3126498"/>
          </a:xfrm>
          <a:prstGeom prst="bentArrow">
            <a:avLst>
              <a:gd name="adj1" fmla="val 0"/>
              <a:gd name="adj2" fmla="val 2133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97590636" name="CaixaDeTexto 997590635"/>
          <p:cNvSpPr txBox="1"/>
          <p:nvPr/>
        </p:nvSpPr>
        <p:spPr bwMode="auto">
          <a:xfrm>
            <a:off x="9558373" y="5293657"/>
            <a:ext cx="2637768" cy="396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>
                <a:highlight>
                  <a:srgbClr val="FFFF00"/>
                </a:highlight>
              </a:rPr>
              <a:t>Trilho </a:t>
            </a:r>
            <a:r>
              <a:rPr sz="2000">
                <a:highlight>
                  <a:srgbClr val="FFFF00"/>
                </a:highlight>
              </a:rPr>
              <a:t>Desmontável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82033486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CONFIGURAÇÕES DO FERRAMENTAL</a:t>
            </a:r>
            <a:endParaRPr lang="en-US" sz="2800"/>
          </a:p>
        </p:txBody>
      </p:sp>
      <p:sp>
        <p:nvSpPr>
          <p:cNvPr id="1328072957" name="Retângulo 2"/>
          <p:cNvSpPr/>
          <p:nvPr/>
        </p:nvSpPr>
        <p:spPr bwMode="auto">
          <a:xfrm>
            <a:off x="0" y="765663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31209312" name="CaixaDeTexto 4"/>
          <p:cNvSpPr txBox="1"/>
          <p:nvPr/>
        </p:nvSpPr>
        <p:spPr bwMode="auto">
          <a:xfrm>
            <a:off x="9558373" y="259593"/>
            <a:ext cx="2716423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/>
              <a:t>Slide:Leandro Macedo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19104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latin typeface="Arial"/>
              </a:rPr>
              <a:t>INTERFACE COM PONTE ROLANTE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534589878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22261848" name="CaixaDeTexto 4"/>
          <p:cNvSpPr txBox="1"/>
          <p:nvPr/>
        </p:nvSpPr>
        <p:spPr bwMode="auto">
          <a:xfrm>
            <a:off x="9558374" y="259593"/>
            <a:ext cx="2718585" cy="3661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/>
              <a:t>Slide: Fabio Carvalho</a:t>
            </a:r>
            <a:endParaRPr dirty="0"/>
          </a:p>
        </p:txBody>
      </p:sp>
      <p:pic>
        <p:nvPicPr>
          <p:cNvPr id="3" name="Imagem 2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405B8279-E511-9C83-95F7-6C5FAD36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31" y="1320800"/>
            <a:ext cx="8420579" cy="520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8CB503A-5C8C-24D3-FD6C-8269EDA46B7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19104" name="Text Placeholder 1">
            <a:extLst>
              <a:ext uri="{FF2B5EF4-FFF2-40B4-BE49-F238E27FC236}">
                <a16:creationId xmlns:a16="http://schemas.microsoft.com/office/drawing/2014/main" id="{9A1D0045-2160-DA55-10BE-33866AAFE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  <a:latin typeface="Arial"/>
              </a:rPr>
              <a:t>PROPOSTAS DE INTERFACES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534589878" name="Retângulo 2">
            <a:extLst>
              <a:ext uri="{FF2B5EF4-FFF2-40B4-BE49-F238E27FC236}">
                <a16:creationId xmlns:a16="http://schemas.microsoft.com/office/drawing/2014/main" id="{9E2B8901-8B6B-051C-FFB7-FA69EE8F5A30}"/>
              </a:ext>
            </a:extLst>
          </p:cNvPr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22261848" name="CaixaDeTexto 4">
            <a:extLst>
              <a:ext uri="{FF2B5EF4-FFF2-40B4-BE49-F238E27FC236}">
                <a16:creationId xmlns:a16="http://schemas.microsoft.com/office/drawing/2014/main" id="{A1782E13-9CFC-AA85-A984-4E45B75CC00A}"/>
              </a:ext>
            </a:extLst>
          </p:cNvPr>
          <p:cNvSpPr txBox="1"/>
          <p:nvPr/>
        </p:nvSpPr>
        <p:spPr bwMode="auto">
          <a:xfrm>
            <a:off x="9558374" y="259593"/>
            <a:ext cx="2718585" cy="3661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/>
              <a:t>Slide: Fabio Carvalho</a:t>
            </a:r>
            <a:endParaRPr dirty="0"/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393E3905-2FB3-FE95-EE79-8431CD42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1478458"/>
            <a:ext cx="10779760" cy="488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90623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207311" y="505124"/>
            <a:ext cx="9486308" cy="312976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400" b="1" dirty="0">
                <a:solidFill>
                  <a:schemeClr val="tx1"/>
                </a:solidFill>
                <a:latin typeface="+mn-lt"/>
              </a:rPr>
              <a:t>Normas de Segurança e Processo Preliminar de Fabricação</a:t>
            </a:r>
          </a:p>
          <a:p>
            <a:pPr>
              <a:defRPr/>
            </a:pPr>
            <a:endParaRPr lang="pt-BR" sz="2400" b="1" dirty="0">
              <a:solidFill>
                <a:schemeClr val="tx1"/>
              </a:solidFill>
            </a:endParaRPr>
          </a:p>
        </p:txBody>
      </p:sp>
      <p:sp>
        <p:nvSpPr>
          <p:cNvPr id="1819339312" name="Retângulo 2"/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7077393" name="CaixaDeTexto 4"/>
          <p:cNvSpPr txBox="1"/>
          <p:nvPr/>
        </p:nvSpPr>
        <p:spPr bwMode="auto">
          <a:xfrm>
            <a:off x="9558374" y="259594"/>
            <a:ext cx="2718585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/>
              <a:t>Slide: Eliza Souza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630F-F6FB-FC57-7C0E-2F7A5E243DF6}"/>
              </a:ext>
            </a:extLst>
          </p:cNvPr>
          <p:cNvSpPr>
            <a:spLocks noGrp="1"/>
          </p:cNvSpPr>
          <p:nvPr/>
        </p:nvSpPr>
        <p:spPr>
          <a:xfrm>
            <a:off x="291056" y="1598277"/>
            <a:ext cx="5123287" cy="4599715"/>
          </a:xfr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sz="1400" dirty="0"/>
              <a:t>• Normas de segurança: NR-12, ISO 12100 e requisitos de ergonomia</a:t>
            </a:r>
            <a:r>
              <a:rPr lang="pt-BR" sz="1400" dirty="0"/>
              <a:t>.</a:t>
            </a:r>
            <a:endParaRPr lang="pt-BR"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Projeto detalhado e validação do conceito</a:t>
            </a:r>
            <a:r>
              <a:rPr lang="pt-BR" sz="1400" dirty="0"/>
              <a:t>.</a:t>
            </a:r>
            <a:endParaRPr lang="pt-BR"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Cotação de materiais e escolha de fornecedores</a:t>
            </a:r>
            <a:r>
              <a:rPr lang="pt-BR" sz="1400" dirty="0"/>
              <a:t>.</a:t>
            </a:r>
            <a:endParaRPr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</a:t>
            </a:r>
            <a:r>
              <a:rPr lang="pt-BR" sz="1400" dirty="0"/>
              <a:t>Ficha de processo de fabricação </a:t>
            </a:r>
            <a:r>
              <a:rPr sz="1400" dirty="0"/>
              <a:t>dos componentes</a:t>
            </a:r>
            <a:r>
              <a:rPr lang="pt-BR" sz="1400" dirty="0"/>
              <a:t>.</a:t>
            </a:r>
            <a:endParaRPr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Montagem do protótipo</a:t>
            </a:r>
            <a:r>
              <a:rPr lang="pt-BR" sz="1400" dirty="0"/>
              <a:t>.</a:t>
            </a:r>
            <a:endParaRPr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Testes de carga e movimentação</a:t>
            </a:r>
            <a:r>
              <a:rPr lang="pt-BR" sz="1400" dirty="0"/>
              <a:t>.</a:t>
            </a:r>
            <a:endParaRPr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400" dirty="0"/>
              <a:t>• Garantia de eficiência e segurança no uso</a:t>
            </a:r>
            <a:r>
              <a:rPr lang="pt-BR" sz="1400" dirty="0"/>
              <a:t>.</a:t>
            </a:r>
            <a:endParaRPr sz="14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ea typeface="Calibri"/>
                <a:cs typeface="Calibri"/>
              </a:rPr>
              <a:t>• </a:t>
            </a:r>
            <a:r>
              <a:rPr lang="pt-BR" sz="1400" dirty="0">
                <a:ea typeface="Calibri"/>
                <a:cs typeface="Calibri"/>
              </a:rPr>
              <a:t>Treinamento dos colaboradores para o uso do ferramental.</a:t>
            </a: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654C7B20-F50B-BA43-F56E-1823156719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" t="6448" r="-102" b="20081"/>
          <a:stretch>
            <a:fillRect/>
          </a:stretch>
        </p:blipFill>
        <p:spPr>
          <a:xfrm>
            <a:off x="5407474" y="1806377"/>
            <a:ext cx="6786889" cy="37381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13192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/>
          <a:lstStyle/>
          <a:p>
            <a:pPr>
              <a:defRPr/>
            </a:pPr>
            <a:r>
              <a:rPr lang="pt-BR" sz="2800" b="1" i="0" dirty="0">
                <a:solidFill>
                  <a:schemeClr val="tx1"/>
                </a:solidFill>
                <a:latin typeface="Arial"/>
              </a:rPr>
              <a:t>Lay out (antes)</a:t>
            </a:r>
            <a:endParaRPr lang="en-US" sz="2800" dirty="0"/>
          </a:p>
        </p:txBody>
      </p:sp>
      <p:sp>
        <p:nvSpPr>
          <p:cNvPr id="750813830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17598668" name="CaixaDeTexto 4"/>
          <p:cNvSpPr txBox="1"/>
          <p:nvPr/>
        </p:nvSpPr>
        <p:spPr bwMode="auto">
          <a:xfrm>
            <a:off x="9558374" y="259593"/>
            <a:ext cx="2718585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Katty Anne</a:t>
            </a:r>
            <a:endParaRPr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502" y="1116535"/>
            <a:ext cx="7449872" cy="54228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010722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/>
          <a:lstStyle/>
          <a:p>
            <a:pPr>
              <a:defRPr/>
            </a:pPr>
            <a:r>
              <a:rPr lang="pt-BR" sz="2800" b="1" i="0" dirty="0">
                <a:solidFill>
                  <a:schemeClr val="tx1"/>
                </a:solidFill>
                <a:latin typeface="Arial"/>
              </a:rPr>
              <a:t>Lay out (depois)</a:t>
            </a:r>
            <a:endParaRPr lang="en-US" sz="2800" dirty="0"/>
          </a:p>
        </p:txBody>
      </p:sp>
      <p:sp>
        <p:nvSpPr>
          <p:cNvPr id="1356576304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476119" name="CaixaDeTexto 4"/>
          <p:cNvSpPr txBox="1"/>
          <p:nvPr/>
        </p:nvSpPr>
        <p:spPr bwMode="auto">
          <a:xfrm>
            <a:off x="9558374" y="259593"/>
            <a:ext cx="2718585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Katty Anne</a:t>
            </a:r>
            <a:endParaRPr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4" y="975650"/>
            <a:ext cx="7897209" cy="57853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2945" y="68368"/>
            <a:ext cx="7869382" cy="628928"/>
          </a:xfrm>
        </p:spPr>
        <p:txBody>
          <a:bodyPr/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+mn-lt"/>
              </a:rPr>
              <a:t>Cotações / Empresas</a:t>
            </a:r>
            <a:endParaRPr lang="en-US" sz="28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E6542D-663B-5D7C-5799-71ED6C6BDE09}"/>
              </a:ext>
            </a:extLst>
          </p:cNvPr>
          <p:cNvSpPr/>
          <p:nvPr/>
        </p:nvSpPr>
        <p:spPr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60AD44-9274-5F1E-AF6C-853FAAD0D3BC}"/>
              </a:ext>
            </a:extLst>
          </p:cNvPr>
          <p:cNvSpPr txBox="1"/>
          <p:nvPr/>
        </p:nvSpPr>
        <p:spPr>
          <a:xfrm>
            <a:off x="9809018" y="25959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Slide: Sidney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F26811-38C2-B130-3609-D490268D8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28" y="3153918"/>
            <a:ext cx="5770935" cy="120757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F3CE8C8-B3F9-9849-0F58-55EAFEAC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28" y="4954664"/>
            <a:ext cx="5770935" cy="120757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38EA827-10D8-DA74-62C0-819B0D50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27" y="1469168"/>
            <a:ext cx="5770935" cy="1261198"/>
          </a:xfrm>
          <a:prstGeom prst="rect">
            <a:avLst/>
          </a:prstGeom>
        </p:spPr>
      </p:pic>
      <p:pic>
        <p:nvPicPr>
          <p:cNvPr id="12" name="Imagem 11" descr="Mesa com cadeiras&#10;&#10;O conteúdo gerado por IA pode estar incorreto.">
            <a:extLst>
              <a:ext uri="{FF2B5EF4-FFF2-40B4-BE49-F238E27FC236}">
                <a16:creationId xmlns:a16="http://schemas.microsoft.com/office/drawing/2014/main" id="{E4C7C0EE-D7CC-EE54-C787-0B85F297BB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805" y="4116291"/>
            <a:ext cx="4026025" cy="224140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E208C6-D909-B255-C660-6A611F1A1896}"/>
              </a:ext>
            </a:extLst>
          </p:cNvPr>
          <p:cNvSpPr txBox="1"/>
          <p:nvPr/>
        </p:nvSpPr>
        <p:spPr>
          <a:xfrm>
            <a:off x="7338805" y="1864546"/>
            <a:ext cx="41604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 Cotação prévia, não contempla acabamento: mecanismo de extensão, pintura e pés (rodas).</a:t>
            </a:r>
          </a:p>
          <a:p>
            <a:endParaRPr lang="pt-BR" dirty="0"/>
          </a:p>
          <a:p>
            <a:r>
              <a:rPr lang="pt-BR" dirty="0"/>
              <a:t>* Empresas localizadas em São José dos Campos (SP).</a:t>
            </a:r>
          </a:p>
        </p:txBody>
      </p:sp>
    </p:spTree>
    <p:extLst>
      <p:ext uri="{BB962C8B-B14F-4D97-AF65-F5344CB8AC3E}">
        <p14:creationId xmlns:p14="http://schemas.microsoft.com/office/powerpoint/2010/main" val="13786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C90F-13FF-1A6A-9105-39984E31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05F728-7B94-805F-F2B0-A0213A22E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2945" y="68368"/>
            <a:ext cx="7869382" cy="628928"/>
          </a:xfrm>
        </p:spPr>
        <p:txBody>
          <a:bodyPr/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+mn-lt"/>
              </a:rPr>
              <a:t>Planilha de Custo Médio</a:t>
            </a:r>
            <a:endParaRPr lang="en-US" sz="28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2C898B-1CA7-3509-9F14-90C5E3C03D4C}"/>
              </a:ext>
            </a:extLst>
          </p:cNvPr>
          <p:cNvSpPr/>
          <p:nvPr/>
        </p:nvSpPr>
        <p:spPr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9F4EA8-07E8-8276-0960-C5381D60B299}"/>
              </a:ext>
            </a:extLst>
          </p:cNvPr>
          <p:cNvSpPr txBox="1"/>
          <p:nvPr/>
        </p:nvSpPr>
        <p:spPr>
          <a:xfrm>
            <a:off x="9809018" y="25959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Slide: Sidney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185220-921B-0B1C-A688-E084CCC79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55" y="1836129"/>
            <a:ext cx="10632089" cy="31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88072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A047"/>
      </a:accent1>
      <a:accent2>
        <a:srgbClr val="F07C4F"/>
      </a:accent2>
      <a:accent3>
        <a:srgbClr val="F05A59"/>
      </a:accent3>
      <a:accent4>
        <a:srgbClr val="E43E5F"/>
      </a:accent4>
      <a:accent5>
        <a:srgbClr val="E04088"/>
      </a:accent5>
      <a:accent6>
        <a:srgbClr val="E23FA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A047"/>
      </a:accent1>
      <a:accent2>
        <a:srgbClr val="F07C4F"/>
      </a:accent2>
      <a:accent3>
        <a:srgbClr val="F05A59"/>
      </a:accent3>
      <a:accent4>
        <a:srgbClr val="E44088"/>
      </a:accent4>
      <a:accent5>
        <a:srgbClr val="E04088"/>
      </a:accent5>
      <a:accent6>
        <a:srgbClr val="E23FA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ddf61d-3231-43c1-a5c5-f1b565217609">
      <Terms xmlns="http://schemas.microsoft.com/office/infopath/2007/PartnerControls"/>
    </lcf76f155ced4ddcb4097134ff3c332f>
    <TaxCatchAll xmlns="db54d00f-abbd-4c5d-a8df-662c51666f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0F90E8215DF7408C40BB960B1D8C24" ma:contentTypeVersion="11" ma:contentTypeDescription="Crie um novo documento." ma:contentTypeScope="" ma:versionID="6d87f2361e0efad9c93cfbb9f01dae7e">
  <xsd:schema xmlns:xsd="http://www.w3.org/2001/XMLSchema" xmlns:xs="http://www.w3.org/2001/XMLSchema" xmlns:p="http://schemas.microsoft.com/office/2006/metadata/properties" xmlns:ns2="21ddf61d-3231-43c1-a5c5-f1b565217609" xmlns:ns3="db54d00f-abbd-4c5d-a8df-662c51666f86" targetNamespace="http://schemas.microsoft.com/office/2006/metadata/properties" ma:root="true" ma:fieldsID="94bda62155897b63c2c8a87187a22a0b" ns2:_="" ns3:_="">
    <xsd:import namespace="21ddf61d-3231-43c1-a5c5-f1b565217609"/>
    <xsd:import namespace="db54d00f-abbd-4c5d-a8df-662c51666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df61d-3231-43c1-a5c5-f1b5652176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54d00f-abbd-4c5d-a8df-662c51666f8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527f9e-ec4c-4860-8256-0e0c4cb3a020}" ma:internalName="TaxCatchAll" ma:showField="CatchAllData" ma:web="db54d00f-abbd-4c5d-a8df-662c51666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CC2ACF-E02C-489F-80B9-257904BDED36}">
  <ds:schemaRefs>
    <ds:schemaRef ds:uri="http://schemas.microsoft.com/office/2006/metadata/properties"/>
    <ds:schemaRef ds:uri="http://schemas.microsoft.com/office/infopath/2007/PartnerControls"/>
    <ds:schemaRef ds:uri="21ddf61d-3231-43c1-a5c5-f1b565217609"/>
    <ds:schemaRef ds:uri="db54d00f-abbd-4c5d-a8df-662c51666f86"/>
    <ds:schemaRef ds:uri="7da11bf5-cd77-4b66-83a4-5d3293538446"/>
    <ds:schemaRef ds:uri="37d711b0-2662-427e-9832-b1ec7557e327"/>
  </ds:schemaRefs>
</ds:datastoreItem>
</file>

<file path=customXml/itemProps2.xml><?xml version="1.0" encoding="utf-8"?>
<ds:datastoreItem xmlns:ds="http://schemas.openxmlformats.org/officeDocument/2006/customXml" ds:itemID="{31BC6B3C-AE35-41D0-963F-8DB67EE3A8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804518-749C-40B8-B813-D82440F4BB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df61d-3231-43c1-a5c5-f1b565217609"/>
    <ds:schemaRef ds:uri="db54d00f-abbd-4c5d-a8df-662c51666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703</Words>
  <Application>Microsoft Office PowerPoint</Application>
  <PresentationFormat>Widescreen</PresentationFormat>
  <Paragraphs>124</Paragraphs>
  <Slides>17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Contents Slide Master</vt:lpstr>
      <vt:lpstr>Section Break Slide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Sidney Nascimento</cp:lastModifiedBy>
  <cp:revision>2</cp:revision>
  <dcterms:created xsi:type="dcterms:W3CDTF">2020-01-20T05:08:25Z</dcterms:created>
  <dcterms:modified xsi:type="dcterms:W3CDTF">2025-10-19T14:04:08Z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0x010100C60F90E8215DF7408C40BB960B1D8C24</vt:lpwstr>
  </property>
  <property fmtid="{D5CDD505-2E9C-101B-9397-08002B2CF9AE}" pid="3" name="MediaServiceImageTags">
    <vt:lpwstr/>
  </property>
</Properties>
</file>